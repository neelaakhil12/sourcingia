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3" r:id="rId10"/>
  </p:sldIdLst>
  <p:sldSz cx="14630400" cy="8229600"/>
  <p:notesSz cx="8229600" cy="14630400"/>
  <p:embeddedFontLst>
    <p:embeddedFont>
      <p:font typeface="Lora" charset="0"/>
      <p:regular r:id="rId12"/>
    </p:embeddedFont>
    <p:embeddedFont>
      <p:font typeface="Calibri" pitchFamily="34" charset="0"/>
      <p:regular r:id="rId13"/>
      <p:bold r:id="rId14"/>
      <p:italic r:id="rId15"/>
      <p:bold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11"/>
    <p:restoredTop sz="94610"/>
  </p:normalViewPr>
  <p:slideViewPr>
    <p:cSldViewPr snapToGrid="0" snapToObjects="1">
      <p:cViewPr varScale="1">
        <p:scale>
          <a:sx n="61" d="100"/>
          <a:sy n="61" d="100"/>
        </p:scale>
        <p:origin x="-564" y="-84"/>
      </p:cViewPr>
      <p:guideLst>
        <p:guide orient="horz" pos="2592"/>
        <p:guide pos="4608"/>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00000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80000"/>
            </a:srgbClr>
          </a:solidFill>
          <a:ln/>
        </p:spPr>
      </p:sp>
      <p:sp>
        <p:nvSpPr>
          <p:cNvPr id="4" name="Text 1"/>
          <p:cNvSpPr/>
          <p:nvPr/>
        </p:nvSpPr>
        <p:spPr>
          <a:xfrm>
            <a:off x="968693" y="1861185"/>
            <a:ext cx="12692896" cy="1452086"/>
          </a:xfrm>
          <a:prstGeom prst="rect">
            <a:avLst/>
          </a:prstGeom>
          <a:noFill/>
          <a:ln/>
        </p:spPr>
        <p:txBody>
          <a:bodyPr wrap="square" lIns="0" tIns="0" rIns="0" bIns="0" rtlCol="0" anchor="t"/>
          <a:lstStyle/>
          <a:p>
            <a:pPr marL="0" indent="0">
              <a:lnSpc>
                <a:spcPts val="5700"/>
              </a:lnSpc>
              <a:buNone/>
            </a:pPr>
            <a:r>
              <a:rPr lang="en-US" sz="4550" dirty="0">
                <a:solidFill>
                  <a:srgbClr val="FFFFFF"/>
                </a:solidFill>
                <a:latin typeface="Lora" pitchFamily="34" charset="0"/>
                <a:ea typeface="Lora" pitchFamily="34" charset="-122"/>
                <a:cs typeface="Lora" pitchFamily="34" charset="-120"/>
              </a:rPr>
              <a:t>A Guide to STEM: Understanding Its Importance and Job Roles</a:t>
            </a:r>
            <a:endParaRPr lang="en-US" sz="4550" dirty="0"/>
          </a:p>
        </p:txBody>
      </p:sp>
      <p:sp>
        <p:nvSpPr>
          <p:cNvPr id="5" name="Text 2"/>
          <p:cNvSpPr/>
          <p:nvPr/>
        </p:nvSpPr>
        <p:spPr>
          <a:xfrm>
            <a:off x="968693" y="3683556"/>
            <a:ext cx="12692896" cy="1975247"/>
          </a:xfrm>
          <a:prstGeom prst="rect">
            <a:avLst/>
          </a:prstGeom>
          <a:noFill/>
          <a:ln/>
        </p:spPr>
        <p:txBody>
          <a:bodyPr wrap="square" lIns="0" tIns="0" rIns="0" bIns="0" rtlCol="0" anchor="t"/>
          <a:lstStyle/>
          <a:p>
            <a:pPr marL="0" indent="0">
              <a:lnSpc>
                <a:spcPts val="3100"/>
              </a:lnSpc>
              <a:buNone/>
            </a:pPr>
            <a:r>
              <a:rPr lang="en-US" sz="1900" dirty="0">
                <a:solidFill>
                  <a:srgbClr val="FFFFFF"/>
                </a:solidFill>
                <a:latin typeface="Source Sans Pro" pitchFamily="34" charset="0"/>
                <a:ea typeface="Source Sans Pro" pitchFamily="34" charset="-122"/>
                <a:cs typeface="Source Sans Pro" pitchFamily="34" charset="-120"/>
              </a:rPr>
              <a:t>This document provides a comprehensive overview of STEM, exploring its meaning, significance in education, and the diverse career paths it offers. We will delve into the core disciplines that make up STEM – Science, Technology, Engineering, and Mathematics – highlighting key roles and the advantages of pursuing a STEM career. By understanding the fundamentals of STEM and its applications, individuals can make informed decisions about their educational and career paths.</a:t>
            </a:r>
            <a:endParaRPr lang="en-US" sz="1900" dirty="0"/>
          </a:p>
        </p:txBody>
      </p:sp>
      <p:sp>
        <p:nvSpPr>
          <p:cNvPr id="6" name="Shape 3"/>
          <p:cNvSpPr/>
          <p:nvPr/>
        </p:nvSpPr>
        <p:spPr>
          <a:xfrm>
            <a:off x="968693" y="5954911"/>
            <a:ext cx="394930" cy="394930"/>
          </a:xfrm>
          <a:prstGeom prst="roundRect">
            <a:avLst>
              <a:gd name="adj" fmla="val 23151155"/>
            </a:avLst>
          </a:prstGeom>
          <a:noFill/>
          <a:ln w="7620">
            <a:solidFill>
              <a:srgbClr val="FFFFFF"/>
            </a:solidFill>
            <a:prstDash val="solid"/>
          </a:ln>
        </p:spPr>
      </p:sp>
      <p:pic>
        <p:nvPicPr>
          <p:cNvPr id="7" name="Image 1" descr="preencoded.png"/>
          <p:cNvPicPr>
            <a:picLocks noChangeAspect="1"/>
          </p:cNvPicPr>
          <p:nvPr/>
        </p:nvPicPr>
        <p:blipFill>
          <a:blip r:embed="rId4"/>
          <a:stretch>
            <a:fillRect/>
          </a:stretch>
        </p:blipFill>
        <p:spPr>
          <a:xfrm>
            <a:off x="976312" y="5962531"/>
            <a:ext cx="379690" cy="379690"/>
          </a:xfrm>
          <a:prstGeom prst="rect">
            <a:avLst/>
          </a:prstGeom>
        </p:spPr>
      </p:pic>
      <p:sp>
        <p:nvSpPr>
          <p:cNvPr id="8" name="Text 4"/>
          <p:cNvSpPr/>
          <p:nvPr/>
        </p:nvSpPr>
        <p:spPr>
          <a:xfrm>
            <a:off x="1486972" y="5936456"/>
            <a:ext cx="1423987" cy="431959"/>
          </a:xfrm>
          <a:prstGeom prst="rect">
            <a:avLst/>
          </a:prstGeom>
          <a:noFill/>
          <a:ln/>
        </p:spPr>
        <p:txBody>
          <a:bodyPr wrap="none" lIns="0" tIns="0" rIns="0" bIns="0" rtlCol="0" anchor="t"/>
          <a:lstStyle/>
          <a:p>
            <a:pPr marL="0" indent="0" algn="l">
              <a:lnSpc>
                <a:spcPts val="3400"/>
              </a:lnSpc>
              <a:buNone/>
            </a:pPr>
            <a:r>
              <a:rPr lang="en-US" sz="2400" b="1" dirty="0">
                <a:solidFill>
                  <a:srgbClr val="FFFFFF"/>
                </a:solidFill>
                <a:latin typeface="Source Sans Pro Bold" pitchFamily="34" charset="0"/>
                <a:ea typeface="Source Sans Pro Bold" pitchFamily="34" charset="-122"/>
                <a:cs typeface="Source Sans Pro Bold" pitchFamily="34" charset="-120"/>
              </a:rPr>
              <a:t>by Nithu N</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68693" y="823079"/>
            <a:ext cx="9662041" cy="726043"/>
          </a:xfrm>
          <a:prstGeom prst="rect">
            <a:avLst/>
          </a:prstGeom>
          <a:noFill/>
          <a:ln/>
        </p:spPr>
        <p:txBody>
          <a:bodyPr wrap="none" lIns="0" tIns="0" rIns="0" bIns="0" rtlCol="0" anchor="t"/>
          <a:lstStyle/>
          <a:p>
            <a:pPr marL="0" indent="0">
              <a:lnSpc>
                <a:spcPts val="5700"/>
              </a:lnSpc>
              <a:buNone/>
            </a:pPr>
            <a:r>
              <a:rPr lang="en-US" sz="4550" dirty="0">
                <a:solidFill>
                  <a:srgbClr val="38512F"/>
                </a:solidFill>
                <a:latin typeface="Lora" pitchFamily="34" charset="0"/>
                <a:ea typeface="Lora" pitchFamily="34" charset="-122"/>
                <a:cs typeface="Lora" pitchFamily="34" charset="-120"/>
              </a:rPr>
              <a:t>The Importance of STEM Education</a:t>
            </a:r>
            <a:endParaRPr lang="en-US" sz="4550" dirty="0"/>
          </a:p>
        </p:txBody>
      </p:sp>
      <p:sp>
        <p:nvSpPr>
          <p:cNvPr id="3" name="Text 1"/>
          <p:cNvSpPr/>
          <p:nvPr/>
        </p:nvSpPr>
        <p:spPr>
          <a:xfrm>
            <a:off x="968693" y="2042874"/>
            <a:ext cx="12692896" cy="790099"/>
          </a:xfrm>
          <a:prstGeom prst="rect">
            <a:avLst/>
          </a:prstGeom>
          <a:noFill/>
          <a:ln/>
        </p:spPr>
        <p:txBody>
          <a:bodyPr wrap="square" lIns="0" tIns="0" rIns="0" bIns="0" rtlCol="0" anchor="t"/>
          <a:lstStyle/>
          <a:p>
            <a:pPr marL="0" indent="0">
              <a:lnSpc>
                <a:spcPts val="3100"/>
              </a:lnSpc>
              <a:buNone/>
            </a:pPr>
            <a:r>
              <a:rPr lang="en-US" sz="1900" dirty="0">
                <a:solidFill>
                  <a:srgbClr val="3A3630"/>
                </a:solidFill>
                <a:latin typeface="Source Sans Pro" pitchFamily="34" charset="0"/>
                <a:ea typeface="Source Sans Pro" pitchFamily="34" charset="-122"/>
                <a:cs typeface="Source Sans Pro" pitchFamily="34" charset="-120"/>
              </a:rPr>
              <a:t>STEM education is crucial in today's rapidly evolving world, driven by technological advancements and a growing demand for skilled professionals in these fields. Here's why STEM education is essential:</a:t>
            </a:r>
            <a:endParaRPr lang="en-US" sz="1900" dirty="0"/>
          </a:p>
        </p:txBody>
      </p:sp>
      <p:sp>
        <p:nvSpPr>
          <p:cNvPr id="4" name="Text 2"/>
          <p:cNvSpPr/>
          <p:nvPr/>
        </p:nvSpPr>
        <p:spPr>
          <a:xfrm>
            <a:off x="968693" y="3110627"/>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Innovation and Problem-Solving:</a:t>
            </a:r>
            <a:r>
              <a:rPr lang="en-US" sz="1900" dirty="0">
                <a:solidFill>
                  <a:srgbClr val="3A3630"/>
                </a:solidFill>
                <a:latin typeface="Source Sans Pro" pitchFamily="34" charset="0"/>
                <a:ea typeface="Source Sans Pro" pitchFamily="34" charset="-122"/>
                <a:cs typeface="Source Sans Pro" pitchFamily="34" charset="-120"/>
              </a:rPr>
              <a:t> STEM principles and practices foster critical thinking, creativity, and problem-solving skills, enabling individuals to tackle complex challenges and contribute to innovation.</a:t>
            </a:r>
            <a:endParaRPr lang="en-US" sz="1900" dirty="0"/>
          </a:p>
        </p:txBody>
      </p:sp>
      <p:sp>
        <p:nvSpPr>
          <p:cNvPr id="5" name="Text 3"/>
          <p:cNvSpPr/>
          <p:nvPr/>
        </p:nvSpPr>
        <p:spPr>
          <a:xfrm>
            <a:off x="968693" y="3987046"/>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Technological Advancement:</a:t>
            </a:r>
            <a:r>
              <a:rPr lang="en-US" sz="1900" dirty="0">
                <a:solidFill>
                  <a:srgbClr val="3A3630"/>
                </a:solidFill>
                <a:latin typeface="Source Sans Pro" pitchFamily="34" charset="0"/>
                <a:ea typeface="Source Sans Pro" pitchFamily="34" charset="-122"/>
                <a:cs typeface="Source Sans Pro" pitchFamily="34" charset="-120"/>
              </a:rPr>
              <a:t> STEM education prepares individuals to understand and adapt to emerging technologies, driving innovation and progress in various sectors.</a:t>
            </a:r>
            <a:endParaRPr lang="en-US" sz="1900" dirty="0"/>
          </a:p>
        </p:txBody>
      </p:sp>
      <p:sp>
        <p:nvSpPr>
          <p:cNvPr id="6" name="Text 4"/>
          <p:cNvSpPr/>
          <p:nvPr/>
        </p:nvSpPr>
        <p:spPr>
          <a:xfrm>
            <a:off x="968693" y="4863465"/>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Economic Growth:</a:t>
            </a:r>
            <a:r>
              <a:rPr lang="en-US" sz="1900" dirty="0">
                <a:solidFill>
                  <a:srgbClr val="3A3630"/>
                </a:solidFill>
                <a:latin typeface="Source Sans Pro" pitchFamily="34" charset="0"/>
                <a:ea typeface="Source Sans Pro" pitchFamily="34" charset="-122"/>
                <a:cs typeface="Source Sans Pro" pitchFamily="34" charset="-120"/>
              </a:rPr>
              <a:t> STEM careers are highly in-demand and offer lucrative opportunities, contributing to economic growth and technological advancement.</a:t>
            </a:r>
            <a:endParaRPr lang="en-US" sz="1900" dirty="0"/>
          </a:p>
        </p:txBody>
      </p:sp>
      <p:sp>
        <p:nvSpPr>
          <p:cNvPr id="7" name="Text 5"/>
          <p:cNvSpPr/>
          <p:nvPr/>
        </p:nvSpPr>
        <p:spPr>
          <a:xfrm>
            <a:off x="968693" y="5739884"/>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Global Competitiveness:</a:t>
            </a:r>
            <a:r>
              <a:rPr lang="en-US" sz="1900" dirty="0">
                <a:solidFill>
                  <a:srgbClr val="3A3630"/>
                </a:solidFill>
                <a:latin typeface="Source Sans Pro" pitchFamily="34" charset="0"/>
                <a:ea typeface="Source Sans Pro" pitchFamily="34" charset="-122"/>
                <a:cs typeface="Source Sans Pro" pitchFamily="34" charset="-120"/>
              </a:rPr>
              <a:t> A strong STEM workforce is essential for a nation's global competitiveness in a technology-driven world.</a:t>
            </a:r>
            <a:endParaRPr lang="en-US" sz="1900" dirty="0"/>
          </a:p>
        </p:txBody>
      </p:sp>
      <p:sp>
        <p:nvSpPr>
          <p:cNvPr id="8" name="Text 6"/>
          <p:cNvSpPr/>
          <p:nvPr/>
        </p:nvSpPr>
        <p:spPr>
          <a:xfrm>
            <a:off x="968693" y="6616303"/>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Societal Impact:</a:t>
            </a:r>
            <a:r>
              <a:rPr lang="en-US" sz="1900" dirty="0">
                <a:solidFill>
                  <a:srgbClr val="3A3630"/>
                </a:solidFill>
                <a:latin typeface="Source Sans Pro" pitchFamily="34" charset="0"/>
                <a:ea typeface="Source Sans Pro" pitchFamily="34" charset="-122"/>
                <a:cs typeface="Source Sans Pro" pitchFamily="34" charset="-120"/>
              </a:rPr>
              <a:t> STEM professionals play vital roles in addressing critical societal issues such as climate change, healthcare advancements, and resource management.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68693" y="670560"/>
            <a:ext cx="7054691" cy="716875"/>
          </a:xfrm>
          <a:prstGeom prst="rect">
            <a:avLst/>
          </a:prstGeom>
          <a:noFill/>
          <a:ln/>
        </p:spPr>
        <p:txBody>
          <a:bodyPr wrap="none" lIns="0" tIns="0" rIns="0" bIns="0" rtlCol="0" anchor="t"/>
          <a:lstStyle/>
          <a:p>
            <a:pPr marL="0" indent="0">
              <a:lnSpc>
                <a:spcPts val="5600"/>
              </a:lnSpc>
              <a:buNone/>
            </a:pPr>
            <a:r>
              <a:rPr lang="en-US" sz="4500" dirty="0">
                <a:solidFill>
                  <a:srgbClr val="38512F"/>
                </a:solidFill>
                <a:latin typeface="Lora" pitchFamily="34" charset="0"/>
                <a:ea typeface="Lora" pitchFamily="34" charset="-122"/>
                <a:cs typeface="Lora" pitchFamily="34" charset="-120"/>
              </a:rPr>
              <a:t>STEM Job Roles in Science</a:t>
            </a:r>
            <a:endParaRPr lang="en-US" sz="4500" dirty="0"/>
          </a:p>
        </p:txBody>
      </p:sp>
      <p:sp>
        <p:nvSpPr>
          <p:cNvPr id="3" name="Text 1"/>
          <p:cNvSpPr/>
          <p:nvPr/>
        </p:nvSpPr>
        <p:spPr>
          <a:xfrm>
            <a:off x="968693" y="1874877"/>
            <a:ext cx="12692896" cy="1169789"/>
          </a:xfrm>
          <a:prstGeom prst="rect">
            <a:avLst/>
          </a:prstGeom>
          <a:noFill/>
          <a:ln/>
        </p:spPr>
        <p:txBody>
          <a:bodyPr wrap="square" lIns="0" tIns="0" rIns="0" bIns="0" rtlCol="0" anchor="t"/>
          <a:lstStyle/>
          <a:p>
            <a:pPr marL="0" indent="0">
              <a:lnSpc>
                <a:spcPts val="3050"/>
              </a:lnSpc>
              <a:buNone/>
            </a:pPr>
            <a:r>
              <a:rPr lang="en-US" sz="1900" dirty="0">
                <a:solidFill>
                  <a:srgbClr val="3A3630"/>
                </a:solidFill>
                <a:latin typeface="Source Sans Pro" pitchFamily="34" charset="0"/>
                <a:ea typeface="Source Sans Pro" pitchFamily="34" charset="-122"/>
                <a:cs typeface="Source Sans Pro" pitchFamily="34" charset="-120"/>
              </a:rPr>
              <a:t>Science encompasses a wide array of disciplines, from biology and chemistry to physics and astronomy. STEM careers in science involve research, analysis, and innovation, contributing to our understanding of the natural world. Here are some key roles in science:</a:t>
            </a:r>
            <a:endParaRPr lang="en-US" sz="1900" dirty="0"/>
          </a:p>
        </p:txBody>
      </p:sp>
      <p:sp>
        <p:nvSpPr>
          <p:cNvPr id="4" name="Text 2"/>
          <p:cNvSpPr/>
          <p:nvPr/>
        </p:nvSpPr>
        <p:spPr>
          <a:xfrm>
            <a:off x="968693" y="3318748"/>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Biologist:</a:t>
            </a:r>
            <a:r>
              <a:rPr lang="en-US" sz="1900" dirty="0">
                <a:solidFill>
                  <a:srgbClr val="3A3630"/>
                </a:solidFill>
                <a:latin typeface="Source Sans Pro" pitchFamily="34" charset="0"/>
                <a:ea typeface="Source Sans Pro" pitchFamily="34" charset="-122"/>
                <a:cs typeface="Source Sans Pro" pitchFamily="34" charset="-120"/>
              </a:rPr>
              <a:t> Studies living organisms, their structures, functions, and interactions, working in research, healthcare, or conservation.</a:t>
            </a:r>
            <a:endParaRPr lang="en-US" sz="1900" dirty="0"/>
          </a:p>
        </p:txBody>
      </p:sp>
      <p:sp>
        <p:nvSpPr>
          <p:cNvPr id="5" name="Text 3"/>
          <p:cNvSpPr/>
          <p:nvPr/>
        </p:nvSpPr>
        <p:spPr>
          <a:xfrm>
            <a:off x="968693" y="4183856"/>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Chemist:</a:t>
            </a:r>
            <a:r>
              <a:rPr lang="en-US" sz="1900" dirty="0">
                <a:solidFill>
                  <a:srgbClr val="3A3630"/>
                </a:solidFill>
                <a:latin typeface="Source Sans Pro" pitchFamily="34" charset="0"/>
                <a:ea typeface="Source Sans Pro" pitchFamily="34" charset="-122"/>
                <a:cs typeface="Source Sans Pro" pitchFamily="34" charset="-120"/>
              </a:rPr>
              <a:t> Studies the composition, structure, properties, and reactions of matter, contributing to advancements in medicine, materials science, and energy.</a:t>
            </a:r>
            <a:endParaRPr lang="en-US" sz="1900" dirty="0"/>
          </a:p>
        </p:txBody>
      </p:sp>
      <p:sp>
        <p:nvSpPr>
          <p:cNvPr id="6" name="Text 4"/>
          <p:cNvSpPr/>
          <p:nvPr/>
        </p:nvSpPr>
        <p:spPr>
          <a:xfrm>
            <a:off x="968693" y="5048964"/>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Physicist:</a:t>
            </a:r>
            <a:r>
              <a:rPr lang="en-US" sz="1900" dirty="0">
                <a:solidFill>
                  <a:srgbClr val="3A3630"/>
                </a:solidFill>
                <a:latin typeface="Source Sans Pro" pitchFamily="34" charset="0"/>
                <a:ea typeface="Source Sans Pro" pitchFamily="34" charset="-122"/>
                <a:cs typeface="Source Sans Pro" pitchFamily="34" charset="-120"/>
              </a:rPr>
              <a:t> Studies matter and energy, exploring fundamental laws of nature and contributing to fields like particle physics, astrophysics, and condensed matter physics.</a:t>
            </a:r>
            <a:endParaRPr lang="en-US" sz="1900" dirty="0"/>
          </a:p>
        </p:txBody>
      </p:sp>
      <p:sp>
        <p:nvSpPr>
          <p:cNvPr id="7" name="Text 5"/>
          <p:cNvSpPr/>
          <p:nvPr/>
        </p:nvSpPr>
        <p:spPr>
          <a:xfrm>
            <a:off x="968693" y="5914073"/>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Environmental Scientist:</a:t>
            </a:r>
            <a:r>
              <a:rPr lang="en-US" sz="1900" dirty="0">
                <a:solidFill>
                  <a:srgbClr val="3A3630"/>
                </a:solidFill>
                <a:latin typeface="Source Sans Pro" pitchFamily="34" charset="0"/>
                <a:ea typeface="Source Sans Pro" pitchFamily="34" charset="-122"/>
                <a:cs typeface="Source Sans Pro" pitchFamily="34" charset="-120"/>
              </a:rPr>
              <a:t> Studies the interactions between living organisms and their environment, working on environmental protection, conservation, and sustainability.</a:t>
            </a:r>
            <a:endParaRPr lang="en-US" sz="1900" dirty="0"/>
          </a:p>
        </p:txBody>
      </p:sp>
      <p:sp>
        <p:nvSpPr>
          <p:cNvPr id="8" name="Text 6"/>
          <p:cNvSpPr/>
          <p:nvPr/>
        </p:nvSpPr>
        <p:spPr>
          <a:xfrm>
            <a:off x="968693" y="6779181"/>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Geologist:</a:t>
            </a:r>
            <a:r>
              <a:rPr lang="en-US" sz="1900" dirty="0">
                <a:solidFill>
                  <a:srgbClr val="3A3630"/>
                </a:solidFill>
                <a:latin typeface="Source Sans Pro" pitchFamily="34" charset="0"/>
                <a:ea typeface="Source Sans Pro" pitchFamily="34" charset="-122"/>
                <a:cs typeface="Source Sans Pro" pitchFamily="34" charset="-120"/>
              </a:rPr>
              <a:t> Studies the Earth's composition, structure, and processes, contributing to resource exploration, environmental assessment, and hazard mitigation.</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68693" y="865465"/>
            <a:ext cx="8093035" cy="716875"/>
          </a:xfrm>
          <a:prstGeom prst="rect">
            <a:avLst/>
          </a:prstGeom>
          <a:noFill/>
          <a:ln/>
        </p:spPr>
        <p:txBody>
          <a:bodyPr wrap="none" lIns="0" tIns="0" rIns="0" bIns="0" rtlCol="0" anchor="t"/>
          <a:lstStyle/>
          <a:p>
            <a:pPr marL="0" indent="0">
              <a:lnSpc>
                <a:spcPts val="5600"/>
              </a:lnSpc>
              <a:buNone/>
            </a:pPr>
            <a:r>
              <a:rPr lang="en-US" sz="4500" dirty="0">
                <a:solidFill>
                  <a:srgbClr val="38512F"/>
                </a:solidFill>
                <a:latin typeface="Lora" pitchFamily="34" charset="0"/>
                <a:ea typeface="Lora" pitchFamily="34" charset="-122"/>
                <a:cs typeface="Lora" pitchFamily="34" charset="-120"/>
              </a:rPr>
              <a:t>STEM Job Roles in Technology</a:t>
            </a:r>
            <a:endParaRPr lang="en-US" sz="4500" dirty="0"/>
          </a:p>
        </p:txBody>
      </p:sp>
      <p:sp>
        <p:nvSpPr>
          <p:cNvPr id="3" name="Text 1"/>
          <p:cNvSpPr/>
          <p:nvPr/>
        </p:nvSpPr>
        <p:spPr>
          <a:xfrm>
            <a:off x="968693" y="2069782"/>
            <a:ext cx="12692896" cy="1169789"/>
          </a:xfrm>
          <a:prstGeom prst="rect">
            <a:avLst/>
          </a:prstGeom>
          <a:noFill/>
          <a:ln/>
        </p:spPr>
        <p:txBody>
          <a:bodyPr wrap="square" lIns="0" tIns="0" rIns="0" bIns="0" rtlCol="0" anchor="t"/>
          <a:lstStyle/>
          <a:p>
            <a:pPr marL="0" indent="0">
              <a:lnSpc>
                <a:spcPts val="3050"/>
              </a:lnSpc>
              <a:buNone/>
            </a:pPr>
            <a:r>
              <a:rPr lang="en-US" sz="1900" dirty="0">
                <a:solidFill>
                  <a:srgbClr val="3A3630"/>
                </a:solidFill>
                <a:latin typeface="Source Sans Pro" pitchFamily="34" charset="0"/>
                <a:ea typeface="Source Sans Pro" pitchFamily="34" charset="-122"/>
                <a:cs typeface="Source Sans Pro" pitchFamily="34" charset="-120"/>
              </a:rPr>
              <a:t>Technology is a rapidly evolving field driven by innovation and development of new tools and applications. STEM careers in technology focus on creating, designing, and implementing technological solutions to various problems. Here are some key roles in technology:</a:t>
            </a:r>
            <a:endParaRPr lang="en-US" sz="1900" dirty="0"/>
          </a:p>
        </p:txBody>
      </p:sp>
      <p:sp>
        <p:nvSpPr>
          <p:cNvPr id="4" name="Text 2"/>
          <p:cNvSpPr/>
          <p:nvPr/>
        </p:nvSpPr>
        <p:spPr>
          <a:xfrm>
            <a:off x="968693" y="3513653"/>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Software Engineer:</a:t>
            </a:r>
            <a:r>
              <a:rPr lang="en-US" sz="1900" dirty="0">
                <a:solidFill>
                  <a:srgbClr val="3A3630"/>
                </a:solidFill>
                <a:latin typeface="Source Sans Pro" pitchFamily="34" charset="0"/>
                <a:ea typeface="Source Sans Pro" pitchFamily="34" charset="-122"/>
                <a:cs typeface="Source Sans Pro" pitchFamily="34" charset="-120"/>
              </a:rPr>
              <a:t> Designs, develops, and tests software applications for computers and mobile devices, working in areas like web development, mobile app development, and enterprise software.</a:t>
            </a:r>
            <a:endParaRPr lang="en-US" sz="1900" dirty="0"/>
          </a:p>
        </p:txBody>
      </p:sp>
      <p:sp>
        <p:nvSpPr>
          <p:cNvPr id="5" name="Text 3"/>
          <p:cNvSpPr/>
          <p:nvPr/>
        </p:nvSpPr>
        <p:spPr>
          <a:xfrm>
            <a:off x="968693" y="4378762"/>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Computer Scientist:</a:t>
            </a:r>
            <a:r>
              <a:rPr lang="en-US" sz="1900" dirty="0">
                <a:solidFill>
                  <a:srgbClr val="3A3630"/>
                </a:solidFill>
                <a:latin typeface="Source Sans Pro" pitchFamily="34" charset="0"/>
                <a:ea typeface="Source Sans Pro" pitchFamily="34" charset="-122"/>
                <a:cs typeface="Source Sans Pro" pitchFamily="34" charset="-120"/>
              </a:rPr>
              <a:t> Studies the theoretical foundations of computing and develops algorithms, data structures, and programming languages, contributing to advancements in artificial intelligence, machine learning, and cybersecurity.</a:t>
            </a:r>
            <a:endParaRPr lang="en-US" sz="1900" dirty="0"/>
          </a:p>
        </p:txBody>
      </p:sp>
      <p:sp>
        <p:nvSpPr>
          <p:cNvPr id="6" name="Text 4"/>
          <p:cNvSpPr/>
          <p:nvPr/>
        </p:nvSpPr>
        <p:spPr>
          <a:xfrm>
            <a:off x="968693" y="5243870"/>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Data Scientist:</a:t>
            </a:r>
            <a:r>
              <a:rPr lang="en-US" sz="1900" dirty="0">
                <a:solidFill>
                  <a:srgbClr val="3A3630"/>
                </a:solidFill>
                <a:latin typeface="Source Sans Pro" pitchFamily="34" charset="0"/>
                <a:ea typeface="Source Sans Pro" pitchFamily="34" charset="-122"/>
                <a:cs typeface="Source Sans Pro" pitchFamily="34" charset="-120"/>
              </a:rPr>
              <a:t> Analyzes large datasets to extract insights and make informed decisions, working in fields like marketing, finance, and healthcare.</a:t>
            </a:r>
            <a:endParaRPr lang="en-US" sz="1900" dirty="0"/>
          </a:p>
        </p:txBody>
      </p:sp>
      <p:sp>
        <p:nvSpPr>
          <p:cNvPr id="7" name="Text 5"/>
          <p:cNvSpPr/>
          <p:nvPr/>
        </p:nvSpPr>
        <p:spPr>
          <a:xfrm>
            <a:off x="968693" y="6108978"/>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Network Engineer:</a:t>
            </a:r>
            <a:r>
              <a:rPr lang="en-US" sz="1900" dirty="0">
                <a:solidFill>
                  <a:srgbClr val="3A3630"/>
                </a:solidFill>
                <a:latin typeface="Source Sans Pro" pitchFamily="34" charset="0"/>
                <a:ea typeface="Source Sans Pro" pitchFamily="34" charset="-122"/>
                <a:cs typeface="Source Sans Pro" pitchFamily="34" charset="-120"/>
              </a:rPr>
              <a:t> Designs, installs, and maintains computer networks, ensuring efficient communication and data flow in organizations.</a:t>
            </a:r>
            <a:endParaRPr lang="en-US" sz="1900" dirty="0"/>
          </a:p>
        </p:txBody>
      </p:sp>
      <p:sp>
        <p:nvSpPr>
          <p:cNvPr id="8" name="Text 6"/>
          <p:cNvSpPr/>
          <p:nvPr/>
        </p:nvSpPr>
        <p:spPr>
          <a:xfrm>
            <a:off x="968693" y="6974086"/>
            <a:ext cx="12692896" cy="389930"/>
          </a:xfrm>
          <a:prstGeom prst="rect">
            <a:avLst/>
          </a:prstGeom>
          <a:noFill/>
          <a:ln/>
        </p:spPr>
        <p:txBody>
          <a:bodyPr wrap="non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Cybersecurity Analyst:</a:t>
            </a:r>
            <a:r>
              <a:rPr lang="en-US" sz="1900" dirty="0">
                <a:solidFill>
                  <a:srgbClr val="3A3630"/>
                </a:solidFill>
                <a:latin typeface="Source Sans Pro" pitchFamily="34" charset="0"/>
                <a:ea typeface="Source Sans Pro" pitchFamily="34" charset="-122"/>
                <a:cs typeface="Source Sans Pro" pitchFamily="34" charset="-120"/>
              </a:rPr>
              <a:t> Protects computer systems and networks from cyber threats, ensuring data security and privacy.</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68693" y="670560"/>
            <a:ext cx="8229600" cy="716875"/>
          </a:xfrm>
          <a:prstGeom prst="rect">
            <a:avLst/>
          </a:prstGeom>
          <a:noFill/>
          <a:ln/>
        </p:spPr>
        <p:txBody>
          <a:bodyPr wrap="none" lIns="0" tIns="0" rIns="0" bIns="0" rtlCol="0" anchor="t"/>
          <a:lstStyle/>
          <a:p>
            <a:pPr marL="0" indent="0">
              <a:lnSpc>
                <a:spcPts val="5600"/>
              </a:lnSpc>
              <a:buNone/>
            </a:pPr>
            <a:r>
              <a:rPr lang="en-US" sz="4500" dirty="0">
                <a:solidFill>
                  <a:srgbClr val="38512F"/>
                </a:solidFill>
                <a:latin typeface="Lora" pitchFamily="34" charset="0"/>
                <a:ea typeface="Lora" pitchFamily="34" charset="-122"/>
                <a:cs typeface="Lora" pitchFamily="34" charset="-120"/>
              </a:rPr>
              <a:t>STEM Job Roles in Engineering</a:t>
            </a:r>
            <a:endParaRPr lang="en-US" sz="4500" dirty="0"/>
          </a:p>
        </p:txBody>
      </p:sp>
      <p:sp>
        <p:nvSpPr>
          <p:cNvPr id="3" name="Text 1"/>
          <p:cNvSpPr/>
          <p:nvPr/>
        </p:nvSpPr>
        <p:spPr>
          <a:xfrm>
            <a:off x="968693" y="1874877"/>
            <a:ext cx="12692896" cy="1169789"/>
          </a:xfrm>
          <a:prstGeom prst="rect">
            <a:avLst/>
          </a:prstGeom>
          <a:noFill/>
          <a:ln/>
        </p:spPr>
        <p:txBody>
          <a:bodyPr wrap="square" lIns="0" tIns="0" rIns="0" bIns="0" rtlCol="0" anchor="t"/>
          <a:lstStyle/>
          <a:p>
            <a:pPr marL="0" indent="0">
              <a:lnSpc>
                <a:spcPts val="3050"/>
              </a:lnSpc>
              <a:buNone/>
            </a:pPr>
            <a:r>
              <a:rPr lang="en-US" sz="1900" dirty="0">
                <a:solidFill>
                  <a:srgbClr val="3A3630"/>
                </a:solidFill>
                <a:latin typeface="Source Sans Pro" pitchFamily="34" charset="0"/>
                <a:ea typeface="Source Sans Pro" pitchFamily="34" charset="-122"/>
                <a:cs typeface="Source Sans Pro" pitchFamily="34" charset="-120"/>
              </a:rPr>
              <a:t>Engineering involves applying scientific principles to solve practical problems and design solutions. STEM careers in engineering focus on innovation, development, and implementation of projects in diverse sectors. Here are some key roles in engineering:</a:t>
            </a:r>
            <a:endParaRPr lang="en-US" sz="1900" dirty="0"/>
          </a:p>
        </p:txBody>
      </p:sp>
      <p:sp>
        <p:nvSpPr>
          <p:cNvPr id="4" name="Text 2"/>
          <p:cNvSpPr/>
          <p:nvPr/>
        </p:nvSpPr>
        <p:spPr>
          <a:xfrm>
            <a:off x="968693" y="3318748"/>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Civil Engineer:</a:t>
            </a:r>
            <a:r>
              <a:rPr lang="en-US" sz="1900" dirty="0">
                <a:solidFill>
                  <a:srgbClr val="3A3630"/>
                </a:solidFill>
                <a:latin typeface="Source Sans Pro" pitchFamily="34" charset="0"/>
                <a:ea typeface="Source Sans Pro" pitchFamily="34" charset="-122"/>
                <a:cs typeface="Source Sans Pro" pitchFamily="34" charset="-120"/>
              </a:rPr>
              <a:t> Designs and constructs infrastructure projects, such as bridges, buildings, and roads, ensuring safety and functionality.</a:t>
            </a:r>
            <a:endParaRPr lang="en-US" sz="1900" dirty="0"/>
          </a:p>
        </p:txBody>
      </p:sp>
      <p:sp>
        <p:nvSpPr>
          <p:cNvPr id="5" name="Text 3"/>
          <p:cNvSpPr/>
          <p:nvPr/>
        </p:nvSpPr>
        <p:spPr>
          <a:xfrm>
            <a:off x="968693" y="4183856"/>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Mechanical Engineer:</a:t>
            </a:r>
            <a:r>
              <a:rPr lang="en-US" sz="1900" dirty="0">
                <a:solidFill>
                  <a:srgbClr val="3A3630"/>
                </a:solidFill>
                <a:latin typeface="Source Sans Pro" pitchFamily="34" charset="0"/>
                <a:ea typeface="Source Sans Pro" pitchFamily="34" charset="-122"/>
                <a:cs typeface="Source Sans Pro" pitchFamily="34" charset="-120"/>
              </a:rPr>
              <a:t> Designs, analyzes, and manufactures mechanical systems, working in areas like robotics, automation, and energy production.</a:t>
            </a:r>
            <a:endParaRPr lang="en-US" sz="1900" dirty="0"/>
          </a:p>
        </p:txBody>
      </p:sp>
      <p:sp>
        <p:nvSpPr>
          <p:cNvPr id="6" name="Text 4"/>
          <p:cNvSpPr/>
          <p:nvPr/>
        </p:nvSpPr>
        <p:spPr>
          <a:xfrm>
            <a:off x="968693" y="5048964"/>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Electrical Engineer:</a:t>
            </a:r>
            <a:r>
              <a:rPr lang="en-US" sz="1900" dirty="0">
                <a:solidFill>
                  <a:srgbClr val="3A3630"/>
                </a:solidFill>
                <a:latin typeface="Source Sans Pro" pitchFamily="34" charset="0"/>
                <a:ea typeface="Source Sans Pro" pitchFamily="34" charset="-122"/>
                <a:cs typeface="Source Sans Pro" pitchFamily="34" charset="-120"/>
              </a:rPr>
              <a:t> Designs, develops, and tests electrical systems and components, working in fields like power generation, telecommunications, and electronics.</a:t>
            </a:r>
            <a:endParaRPr lang="en-US" sz="1900" dirty="0"/>
          </a:p>
        </p:txBody>
      </p:sp>
      <p:sp>
        <p:nvSpPr>
          <p:cNvPr id="7" name="Text 5"/>
          <p:cNvSpPr/>
          <p:nvPr/>
        </p:nvSpPr>
        <p:spPr>
          <a:xfrm>
            <a:off x="968693" y="5914073"/>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Chemical Engineer:</a:t>
            </a:r>
            <a:r>
              <a:rPr lang="en-US" sz="1900" dirty="0">
                <a:solidFill>
                  <a:srgbClr val="3A3630"/>
                </a:solidFill>
                <a:latin typeface="Source Sans Pro" pitchFamily="34" charset="0"/>
                <a:ea typeface="Source Sans Pro" pitchFamily="34" charset="-122"/>
                <a:cs typeface="Source Sans Pro" pitchFamily="34" charset="-120"/>
              </a:rPr>
              <a:t> Applies chemical principles to solve problems in industries like manufacturing, pharmaceuticals, and energy.</a:t>
            </a:r>
            <a:endParaRPr lang="en-US" sz="1900" dirty="0"/>
          </a:p>
        </p:txBody>
      </p:sp>
      <p:sp>
        <p:nvSpPr>
          <p:cNvPr id="8" name="Text 6"/>
          <p:cNvSpPr/>
          <p:nvPr/>
        </p:nvSpPr>
        <p:spPr>
          <a:xfrm>
            <a:off x="968693" y="6779181"/>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Aerospace Engineer:</a:t>
            </a:r>
            <a:r>
              <a:rPr lang="en-US" sz="1900" dirty="0">
                <a:solidFill>
                  <a:srgbClr val="3A3630"/>
                </a:solidFill>
                <a:latin typeface="Source Sans Pro" pitchFamily="34" charset="0"/>
                <a:ea typeface="Source Sans Pro" pitchFamily="34" charset="-122"/>
                <a:cs typeface="Source Sans Pro" pitchFamily="34" charset="-120"/>
              </a:rPr>
              <a:t> Designs and develops spacecraft, aircraft, and related systems, contributing to advancements in space exploration and aviation.</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68693" y="670560"/>
            <a:ext cx="8444032" cy="716875"/>
          </a:xfrm>
          <a:prstGeom prst="rect">
            <a:avLst/>
          </a:prstGeom>
          <a:noFill/>
          <a:ln/>
        </p:spPr>
        <p:txBody>
          <a:bodyPr wrap="none" lIns="0" tIns="0" rIns="0" bIns="0" rtlCol="0" anchor="t"/>
          <a:lstStyle/>
          <a:p>
            <a:pPr marL="0" indent="0">
              <a:lnSpc>
                <a:spcPts val="5600"/>
              </a:lnSpc>
              <a:buNone/>
            </a:pPr>
            <a:r>
              <a:rPr lang="en-US" sz="4500" dirty="0">
                <a:solidFill>
                  <a:srgbClr val="38512F"/>
                </a:solidFill>
                <a:latin typeface="Lora" pitchFamily="34" charset="0"/>
                <a:ea typeface="Lora" pitchFamily="34" charset="-122"/>
                <a:cs typeface="Lora" pitchFamily="34" charset="-120"/>
              </a:rPr>
              <a:t>STEM Job Roles in Mathematics</a:t>
            </a:r>
            <a:endParaRPr lang="en-US" sz="4500" dirty="0"/>
          </a:p>
        </p:txBody>
      </p:sp>
      <p:sp>
        <p:nvSpPr>
          <p:cNvPr id="3" name="Text 1"/>
          <p:cNvSpPr/>
          <p:nvPr/>
        </p:nvSpPr>
        <p:spPr>
          <a:xfrm>
            <a:off x="968693" y="1874877"/>
            <a:ext cx="12692896" cy="1169789"/>
          </a:xfrm>
          <a:prstGeom prst="rect">
            <a:avLst/>
          </a:prstGeom>
          <a:noFill/>
          <a:ln/>
        </p:spPr>
        <p:txBody>
          <a:bodyPr wrap="square" lIns="0" tIns="0" rIns="0" bIns="0" rtlCol="0" anchor="t"/>
          <a:lstStyle/>
          <a:p>
            <a:pPr marL="0" indent="0">
              <a:lnSpc>
                <a:spcPts val="3050"/>
              </a:lnSpc>
              <a:buNone/>
            </a:pPr>
            <a:r>
              <a:rPr lang="en-US" sz="1900" dirty="0">
                <a:solidFill>
                  <a:srgbClr val="3A3630"/>
                </a:solidFill>
                <a:latin typeface="Source Sans Pro" pitchFamily="34" charset="0"/>
                <a:ea typeface="Source Sans Pro" pitchFamily="34" charset="-122"/>
                <a:cs typeface="Source Sans Pro" pitchFamily="34" charset="-120"/>
              </a:rPr>
              <a:t>Mathematics is the foundation of many STEM disciplines, providing the tools and logic necessary for problem-solving and analysis. STEM careers in mathematics involve research, analysis, and application of mathematical principles in various fields. Here are some key roles in mathematics:</a:t>
            </a:r>
            <a:endParaRPr lang="en-US" sz="1900" dirty="0"/>
          </a:p>
        </p:txBody>
      </p:sp>
      <p:sp>
        <p:nvSpPr>
          <p:cNvPr id="4" name="Text 2"/>
          <p:cNvSpPr/>
          <p:nvPr/>
        </p:nvSpPr>
        <p:spPr>
          <a:xfrm>
            <a:off x="968693" y="3318748"/>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Mathematician:</a:t>
            </a:r>
            <a:r>
              <a:rPr lang="en-US" sz="1900" dirty="0">
                <a:solidFill>
                  <a:srgbClr val="3A3630"/>
                </a:solidFill>
                <a:latin typeface="Source Sans Pro" pitchFamily="34" charset="0"/>
                <a:ea typeface="Source Sans Pro" pitchFamily="34" charset="-122"/>
                <a:cs typeface="Source Sans Pro" pitchFamily="34" charset="-120"/>
              </a:rPr>
              <a:t> Conducts research in pure or applied mathematics, developing new theories and models, and applying mathematical principles to solve problems in various fields.</a:t>
            </a:r>
            <a:endParaRPr lang="en-US" sz="1900" dirty="0"/>
          </a:p>
        </p:txBody>
      </p:sp>
      <p:sp>
        <p:nvSpPr>
          <p:cNvPr id="5" name="Text 3"/>
          <p:cNvSpPr/>
          <p:nvPr/>
        </p:nvSpPr>
        <p:spPr>
          <a:xfrm>
            <a:off x="968693" y="4183856"/>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Statistician:</a:t>
            </a:r>
            <a:r>
              <a:rPr lang="en-US" sz="1900" dirty="0">
                <a:solidFill>
                  <a:srgbClr val="3A3630"/>
                </a:solidFill>
                <a:latin typeface="Source Sans Pro" pitchFamily="34" charset="0"/>
                <a:ea typeface="Source Sans Pro" pitchFamily="34" charset="-122"/>
                <a:cs typeface="Source Sans Pro" pitchFamily="34" charset="-120"/>
              </a:rPr>
              <a:t> Collects, analyzes, and interprets data using statistical methods, contributing to research, decision-making, and data-driven insights in diverse fields.</a:t>
            </a:r>
            <a:endParaRPr lang="en-US" sz="1900" dirty="0"/>
          </a:p>
        </p:txBody>
      </p:sp>
      <p:sp>
        <p:nvSpPr>
          <p:cNvPr id="6" name="Text 4"/>
          <p:cNvSpPr/>
          <p:nvPr/>
        </p:nvSpPr>
        <p:spPr>
          <a:xfrm>
            <a:off x="968693" y="5048964"/>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Actuary:</a:t>
            </a:r>
            <a:r>
              <a:rPr lang="en-US" sz="1900" dirty="0">
                <a:solidFill>
                  <a:srgbClr val="3A3630"/>
                </a:solidFill>
                <a:latin typeface="Source Sans Pro" pitchFamily="34" charset="0"/>
                <a:ea typeface="Source Sans Pro" pitchFamily="34" charset="-122"/>
                <a:cs typeface="Source Sans Pro" pitchFamily="34" charset="-120"/>
              </a:rPr>
              <a:t> Analyzes risk and uncertainty in financial and insurance industries, using mathematical models to calculate premiums and assess financial risks.</a:t>
            </a:r>
            <a:endParaRPr lang="en-US" sz="1900" dirty="0"/>
          </a:p>
        </p:txBody>
      </p:sp>
      <p:sp>
        <p:nvSpPr>
          <p:cNvPr id="7" name="Text 5"/>
          <p:cNvSpPr/>
          <p:nvPr/>
        </p:nvSpPr>
        <p:spPr>
          <a:xfrm>
            <a:off x="968693" y="5914073"/>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Operations Research Analyst:</a:t>
            </a:r>
            <a:r>
              <a:rPr lang="en-US" sz="1900" dirty="0">
                <a:solidFill>
                  <a:srgbClr val="3A3630"/>
                </a:solidFill>
                <a:latin typeface="Source Sans Pro" pitchFamily="34" charset="0"/>
                <a:ea typeface="Source Sans Pro" pitchFamily="34" charset="-122"/>
                <a:cs typeface="Source Sans Pro" pitchFamily="34" charset="-120"/>
              </a:rPr>
              <a:t> Applies mathematical and statistical methods to optimize business processes, improve efficiency, and solve complex logistical problems.</a:t>
            </a:r>
            <a:endParaRPr lang="en-US" sz="1900" dirty="0"/>
          </a:p>
        </p:txBody>
      </p:sp>
      <p:sp>
        <p:nvSpPr>
          <p:cNvPr id="8" name="Text 6"/>
          <p:cNvSpPr/>
          <p:nvPr/>
        </p:nvSpPr>
        <p:spPr>
          <a:xfrm>
            <a:off x="968693" y="6779181"/>
            <a:ext cx="12692896" cy="779859"/>
          </a:xfrm>
          <a:prstGeom prst="rect">
            <a:avLst/>
          </a:prstGeom>
          <a:noFill/>
          <a:ln/>
        </p:spPr>
        <p:txBody>
          <a:bodyPr wrap="square" lIns="0" tIns="0" rIns="0" bIns="0" rtlCol="0" anchor="t"/>
          <a:lstStyle/>
          <a:p>
            <a:pPr marL="342900" indent="-342900" algn="l">
              <a:lnSpc>
                <a:spcPts val="305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Cryptographer:</a:t>
            </a:r>
            <a:r>
              <a:rPr lang="en-US" sz="1900" dirty="0">
                <a:solidFill>
                  <a:srgbClr val="3A3630"/>
                </a:solidFill>
                <a:latin typeface="Source Sans Pro" pitchFamily="34" charset="0"/>
                <a:ea typeface="Source Sans Pro" pitchFamily="34" charset="-122"/>
                <a:cs typeface="Source Sans Pro" pitchFamily="34" charset="-120"/>
              </a:rPr>
              <a:t> Develops and analyzes secure communication methods, ensuring data privacy and security in fields like cybersecurity and cryptography.</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68693" y="823079"/>
            <a:ext cx="10494883" cy="726043"/>
          </a:xfrm>
          <a:prstGeom prst="rect">
            <a:avLst/>
          </a:prstGeom>
          <a:noFill/>
          <a:ln/>
        </p:spPr>
        <p:txBody>
          <a:bodyPr wrap="none" lIns="0" tIns="0" rIns="0" bIns="0" rtlCol="0" anchor="t"/>
          <a:lstStyle/>
          <a:p>
            <a:pPr marL="0" indent="0">
              <a:lnSpc>
                <a:spcPts val="5700"/>
              </a:lnSpc>
              <a:buNone/>
            </a:pPr>
            <a:r>
              <a:rPr lang="en-US" sz="4550" dirty="0">
                <a:solidFill>
                  <a:srgbClr val="38512F"/>
                </a:solidFill>
                <a:latin typeface="Lora" pitchFamily="34" charset="0"/>
                <a:ea typeface="Lora" pitchFamily="34" charset="-122"/>
                <a:cs typeface="Lora" pitchFamily="34" charset="-120"/>
              </a:rPr>
              <a:t>Advantages of Pursuing a STEM Career</a:t>
            </a:r>
            <a:endParaRPr lang="en-US" sz="4550" dirty="0"/>
          </a:p>
        </p:txBody>
      </p:sp>
      <p:sp>
        <p:nvSpPr>
          <p:cNvPr id="3" name="Text 1"/>
          <p:cNvSpPr/>
          <p:nvPr/>
        </p:nvSpPr>
        <p:spPr>
          <a:xfrm>
            <a:off x="968693" y="2042874"/>
            <a:ext cx="12692896" cy="790099"/>
          </a:xfrm>
          <a:prstGeom prst="rect">
            <a:avLst/>
          </a:prstGeom>
          <a:noFill/>
          <a:ln/>
        </p:spPr>
        <p:txBody>
          <a:bodyPr wrap="square" lIns="0" tIns="0" rIns="0" bIns="0" rtlCol="0" anchor="t"/>
          <a:lstStyle/>
          <a:p>
            <a:pPr marL="0" indent="0">
              <a:lnSpc>
                <a:spcPts val="3100"/>
              </a:lnSpc>
              <a:buNone/>
            </a:pPr>
            <a:r>
              <a:rPr lang="en-US" sz="1900" dirty="0">
                <a:solidFill>
                  <a:srgbClr val="3A3630"/>
                </a:solidFill>
                <a:latin typeface="Source Sans Pro" pitchFamily="34" charset="0"/>
                <a:ea typeface="Source Sans Pro" pitchFamily="34" charset="-122"/>
                <a:cs typeface="Source Sans Pro" pitchFamily="34" charset="-120"/>
              </a:rPr>
              <a:t>A STEM career offers numerous advantages in terms of career growth, intellectual stimulation, and societal impact. Here are some key benefits of pursuing a STEM career:</a:t>
            </a:r>
            <a:endParaRPr lang="en-US" sz="1900" dirty="0"/>
          </a:p>
        </p:txBody>
      </p:sp>
      <p:sp>
        <p:nvSpPr>
          <p:cNvPr id="4" name="Text 2"/>
          <p:cNvSpPr/>
          <p:nvPr/>
        </p:nvSpPr>
        <p:spPr>
          <a:xfrm>
            <a:off x="968693" y="3110627"/>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High Demand and Job Security:</a:t>
            </a:r>
            <a:r>
              <a:rPr lang="en-US" sz="1900" dirty="0">
                <a:solidFill>
                  <a:srgbClr val="3A3630"/>
                </a:solidFill>
                <a:latin typeface="Source Sans Pro" pitchFamily="34" charset="0"/>
                <a:ea typeface="Source Sans Pro" pitchFamily="34" charset="-122"/>
                <a:cs typeface="Source Sans Pro" pitchFamily="34" charset="-120"/>
              </a:rPr>
              <a:t> STEM careers are in high demand across various industries, offering strong job security and opportunities for advancement.</a:t>
            </a:r>
            <a:endParaRPr lang="en-US" sz="1900" dirty="0"/>
          </a:p>
        </p:txBody>
      </p:sp>
      <p:sp>
        <p:nvSpPr>
          <p:cNvPr id="5" name="Text 3"/>
          <p:cNvSpPr/>
          <p:nvPr/>
        </p:nvSpPr>
        <p:spPr>
          <a:xfrm>
            <a:off x="968693" y="3987046"/>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Competitive Salaries:</a:t>
            </a:r>
            <a:r>
              <a:rPr lang="en-US" sz="1900" dirty="0">
                <a:solidFill>
                  <a:srgbClr val="3A3630"/>
                </a:solidFill>
                <a:latin typeface="Source Sans Pro" pitchFamily="34" charset="0"/>
                <a:ea typeface="Source Sans Pro" pitchFamily="34" charset="-122"/>
                <a:cs typeface="Source Sans Pro" pitchFamily="34" charset="-120"/>
              </a:rPr>
              <a:t> STEM professionals typically earn competitive salaries, reflecting the skills and knowledge required for their roles.</a:t>
            </a:r>
            <a:endParaRPr lang="en-US" sz="1900" dirty="0"/>
          </a:p>
        </p:txBody>
      </p:sp>
      <p:sp>
        <p:nvSpPr>
          <p:cNvPr id="6" name="Text 4"/>
          <p:cNvSpPr/>
          <p:nvPr/>
        </p:nvSpPr>
        <p:spPr>
          <a:xfrm>
            <a:off x="968693" y="4863465"/>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Intellectual Stimulation:</a:t>
            </a:r>
            <a:r>
              <a:rPr lang="en-US" sz="1900" dirty="0">
                <a:solidFill>
                  <a:srgbClr val="3A3630"/>
                </a:solidFill>
                <a:latin typeface="Source Sans Pro" pitchFamily="34" charset="0"/>
                <a:ea typeface="Source Sans Pro" pitchFamily="34" charset="-122"/>
                <a:cs typeface="Source Sans Pro" pitchFamily="34" charset="-120"/>
              </a:rPr>
              <a:t> STEM careers provide opportunities for continuous learning, innovation, and tackling challenging problems, stimulating intellectual curiosity.</a:t>
            </a:r>
            <a:endParaRPr lang="en-US" sz="1900" dirty="0"/>
          </a:p>
        </p:txBody>
      </p:sp>
      <p:sp>
        <p:nvSpPr>
          <p:cNvPr id="7" name="Text 5"/>
          <p:cNvSpPr/>
          <p:nvPr/>
        </p:nvSpPr>
        <p:spPr>
          <a:xfrm>
            <a:off x="968693" y="5739884"/>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Global Impact:</a:t>
            </a:r>
            <a:r>
              <a:rPr lang="en-US" sz="1900" dirty="0">
                <a:solidFill>
                  <a:srgbClr val="3A3630"/>
                </a:solidFill>
                <a:latin typeface="Source Sans Pro" pitchFamily="34" charset="0"/>
                <a:ea typeface="Source Sans Pro" pitchFamily="34" charset="-122"/>
                <a:cs typeface="Source Sans Pro" pitchFamily="34" charset="-120"/>
              </a:rPr>
              <a:t> STEM professionals contribute to advancements in healthcare, technology, and sustainability, making a positive impact on society.</a:t>
            </a:r>
            <a:endParaRPr lang="en-US" sz="1900" dirty="0"/>
          </a:p>
        </p:txBody>
      </p:sp>
      <p:sp>
        <p:nvSpPr>
          <p:cNvPr id="8" name="Text 6"/>
          <p:cNvSpPr/>
          <p:nvPr/>
        </p:nvSpPr>
        <p:spPr>
          <a:xfrm>
            <a:off x="968693" y="6616303"/>
            <a:ext cx="12692896" cy="790099"/>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3A3630"/>
                </a:solidFill>
                <a:latin typeface="Source Sans Pro" pitchFamily="34" charset="0"/>
                <a:ea typeface="Source Sans Pro" pitchFamily="34" charset="-122"/>
                <a:cs typeface="Source Sans Pro" pitchFamily="34" charset="-120"/>
              </a:rPr>
              <a:t>Diverse Career Paths:</a:t>
            </a:r>
            <a:r>
              <a:rPr lang="en-US" sz="1900" dirty="0">
                <a:solidFill>
                  <a:srgbClr val="3A3630"/>
                </a:solidFill>
                <a:latin typeface="Source Sans Pro" pitchFamily="34" charset="0"/>
                <a:ea typeface="Source Sans Pro" pitchFamily="34" charset="-122"/>
                <a:cs typeface="Source Sans Pro" pitchFamily="34" charset="-120"/>
              </a:rPr>
              <a:t> STEM fields offer a wide range of career paths, allowing individuals to find their niche and pursue their passions.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01477"/>
            <a:ext cx="4912963" cy="3046988"/>
          </a:xfrm>
          <a:prstGeom prst="rect">
            <a:avLst/>
          </a:prstGeom>
        </p:spPr>
        <p:txBody>
          <a:bodyPr wrap="square">
            <a:spAutoFit/>
          </a:bodyPr>
          <a:lstStyle/>
          <a:p>
            <a:r>
              <a:rPr lang="en-US" sz="3200" b="1" u="sng" dirty="0"/>
              <a:t>Engineering Occupations</a:t>
            </a:r>
          </a:p>
          <a:p>
            <a:r>
              <a:rPr lang="en-US" sz="3200" dirty="0"/>
              <a:t>Biomedical Engineer</a:t>
            </a:r>
          </a:p>
          <a:p>
            <a:r>
              <a:rPr lang="en-US" sz="3200" dirty="0"/>
              <a:t>Civil Engineer</a:t>
            </a:r>
          </a:p>
          <a:p>
            <a:r>
              <a:rPr lang="en-US" sz="3200" dirty="0"/>
              <a:t>Chemical Engineer</a:t>
            </a:r>
          </a:p>
          <a:p>
            <a:r>
              <a:rPr lang="en-US" sz="3200" dirty="0"/>
              <a:t>Robotics Engineer</a:t>
            </a:r>
          </a:p>
          <a:p>
            <a:r>
              <a:rPr lang="en-US" sz="3200" dirty="0"/>
              <a:t>Environmental Engineer</a:t>
            </a:r>
          </a:p>
        </p:txBody>
      </p:sp>
      <p:sp>
        <p:nvSpPr>
          <p:cNvPr id="4" name="Rectangle 3"/>
          <p:cNvSpPr/>
          <p:nvPr/>
        </p:nvSpPr>
        <p:spPr>
          <a:xfrm>
            <a:off x="-1" y="3514636"/>
            <a:ext cx="5393411" cy="2062103"/>
          </a:xfrm>
          <a:prstGeom prst="rect">
            <a:avLst/>
          </a:prstGeom>
        </p:spPr>
        <p:txBody>
          <a:bodyPr wrap="square">
            <a:spAutoFit/>
          </a:bodyPr>
          <a:lstStyle/>
          <a:p>
            <a:r>
              <a:rPr lang="en-US" sz="3200" dirty="0"/>
              <a:t>Healthcare-Related Careers</a:t>
            </a:r>
          </a:p>
          <a:p>
            <a:r>
              <a:rPr lang="en-US" sz="3200" dirty="0"/>
              <a:t>Nurse Practitioner</a:t>
            </a:r>
          </a:p>
          <a:p>
            <a:r>
              <a:rPr lang="en-US" sz="3200" dirty="0"/>
              <a:t>Medical Services Manager</a:t>
            </a:r>
          </a:p>
          <a:p>
            <a:r>
              <a:rPr lang="en-US" sz="3200" dirty="0"/>
              <a:t>Genetic Counselor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68693" y="726400"/>
            <a:ext cx="11700391" cy="659606"/>
          </a:xfrm>
          <a:prstGeom prst="rect">
            <a:avLst/>
          </a:prstGeom>
          <a:noFill/>
          <a:ln/>
        </p:spPr>
        <p:txBody>
          <a:bodyPr wrap="none" lIns="0" tIns="0" rIns="0" bIns="0" rtlCol="0" anchor="t"/>
          <a:lstStyle/>
          <a:p>
            <a:pPr marL="0" indent="0">
              <a:lnSpc>
                <a:spcPts val="5150"/>
              </a:lnSpc>
              <a:buNone/>
            </a:pPr>
            <a:r>
              <a:rPr lang="en-US" sz="4150" dirty="0">
                <a:solidFill>
                  <a:srgbClr val="38512F"/>
                </a:solidFill>
                <a:latin typeface="Lora" pitchFamily="34" charset="0"/>
                <a:ea typeface="Lora" pitchFamily="34" charset="-122"/>
                <a:cs typeface="Lora" pitchFamily="34" charset="-120"/>
              </a:rPr>
              <a:t>Strategies for Successful STEM Career Planning</a:t>
            </a:r>
            <a:endParaRPr lang="en-US" sz="4150" dirty="0"/>
          </a:p>
        </p:txBody>
      </p:sp>
      <p:sp>
        <p:nvSpPr>
          <p:cNvPr id="3" name="Text 1"/>
          <p:cNvSpPr/>
          <p:nvPr/>
        </p:nvSpPr>
        <p:spPr>
          <a:xfrm>
            <a:off x="968693" y="1834515"/>
            <a:ext cx="12692896" cy="717709"/>
          </a:xfrm>
          <a:prstGeom prst="rect">
            <a:avLst/>
          </a:prstGeom>
          <a:noFill/>
          <a:ln/>
        </p:spPr>
        <p:txBody>
          <a:bodyPr wrap="square" lIns="0" tIns="0" rIns="0" bIns="0" rtlCol="0" anchor="t"/>
          <a:lstStyle/>
          <a:p>
            <a:pPr marL="0" indent="0">
              <a:lnSpc>
                <a:spcPts val="2800"/>
              </a:lnSpc>
              <a:buNone/>
            </a:pPr>
            <a:r>
              <a:rPr lang="en-US" sz="1750" dirty="0">
                <a:solidFill>
                  <a:srgbClr val="3A3630"/>
                </a:solidFill>
                <a:latin typeface="Source Sans Pro" pitchFamily="34" charset="0"/>
                <a:ea typeface="Source Sans Pro" pitchFamily="34" charset="-122"/>
                <a:cs typeface="Source Sans Pro" pitchFamily="34" charset="-120"/>
              </a:rPr>
              <a:t>Planning for a successful STEM career requires careful consideration of your interests, skills, and long-term goals. Here are some strategies to help you plan your STEM career:</a:t>
            </a:r>
            <a:endParaRPr lang="en-US" sz="1750" dirty="0"/>
          </a:p>
        </p:txBody>
      </p:sp>
      <p:sp>
        <p:nvSpPr>
          <p:cNvPr id="4" name="Text 2"/>
          <p:cNvSpPr/>
          <p:nvPr/>
        </p:nvSpPr>
        <p:spPr>
          <a:xfrm>
            <a:off x="968693" y="2804517"/>
            <a:ext cx="12692896" cy="717709"/>
          </a:xfrm>
          <a:prstGeom prst="rect">
            <a:avLst/>
          </a:prstGeom>
          <a:noFill/>
          <a:ln/>
        </p:spPr>
        <p:txBody>
          <a:bodyPr wrap="square" lIns="0" tIns="0" rIns="0" bIns="0" rtlCol="0" anchor="t"/>
          <a:lstStyle/>
          <a:p>
            <a:pPr marL="342900" indent="-342900" algn="l">
              <a:lnSpc>
                <a:spcPts val="2800"/>
              </a:lnSpc>
              <a:buSzPct val="100000"/>
              <a:buChar char="•"/>
            </a:pPr>
            <a:r>
              <a:rPr lang="en-US" sz="1750" b="1" dirty="0">
                <a:solidFill>
                  <a:srgbClr val="3A3630"/>
                </a:solidFill>
                <a:latin typeface="Source Sans Pro" pitchFamily="34" charset="0"/>
                <a:ea typeface="Source Sans Pro" pitchFamily="34" charset="-122"/>
                <a:cs typeface="Source Sans Pro" pitchFamily="34" charset="-120"/>
              </a:rPr>
              <a:t>Identify Your Interests and Strengths:</a:t>
            </a:r>
            <a:r>
              <a:rPr lang="en-US" sz="1750" dirty="0">
                <a:solidFill>
                  <a:srgbClr val="3A3630"/>
                </a:solidFill>
                <a:latin typeface="Source Sans Pro" pitchFamily="34" charset="0"/>
                <a:ea typeface="Source Sans Pro" pitchFamily="34" charset="-122"/>
                <a:cs typeface="Source Sans Pro" pitchFamily="34" charset="-120"/>
              </a:rPr>
              <a:t> Explore different STEM fields and identify your areas of interest and natural talents. This will guide you towards a career path that aligns with your passion.</a:t>
            </a:r>
            <a:endParaRPr lang="en-US" sz="1750" dirty="0"/>
          </a:p>
        </p:txBody>
      </p:sp>
      <p:sp>
        <p:nvSpPr>
          <p:cNvPr id="5" name="Text 3"/>
          <p:cNvSpPr/>
          <p:nvPr/>
        </p:nvSpPr>
        <p:spPr>
          <a:xfrm>
            <a:off x="968693" y="3600688"/>
            <a:ext cx="12692896" cy="717709"/>
          </a:xfrm>
          <a:prstGeom prst="rect">
            <a:avLst/>
          </a:prstGeom>
          <a:noFill/>
          <a:ln/>
        </p:spPr>
        <p:txBody>
          <a:bodyPr wrap="square" lIns="0" tIns="0" rIns="0" bIns="0" rtlCol="0" anchor="t"/>
          <a:lstStyle/>
          <a:p>
            <a:pPr marL="342900" indent="-342900" algn="l">
              <a:lnSpc>
                <a:spcPts val="2800"/>
              </a:lnSpc>
              <a:buSzPct val="100000"/>
              <a:buChar char="•"/>
            </a:pPr>
            <a:r>
              <a:rPr lang="en-US" sz="1750" b="1" dirty="0">
                <a:solidFill>
                  <a:srgbClr val="3A3630"/>
                </a:solidFill>
                <a:latin typeface="Source Sans Pro" pitchFamily="34" charset="0"/>
                <a:ea typeface="Source Sans Pro" pitchFamily="34" charset="-122"/>
                <a:cs typeface="Source Sans Pro" pitchFamily="34" charset="-120"/>
              </a:rPr>
              <a:t>Develop Essential Skills:</a:t>
            </a:r>
            <a:r>
              <a:rPr lang="en-US" sz="1750" dirty="0">
                <a:solidFill>
                  <a:srgbClr val="3A3630"/>
                </a:solidFill>
                <a:latin typeface="Source Sans Pro" pitchFamily="34" charset="0"/>
                <a:ea typeface="Source Sans Pro" pitchFamily="34" charset="-122"/>
                <a:cs typeface="Source Sans Pro" pitchFamily="34" charset="-120"/>
              </a:rPr>
              <a:t> Focus on developing skills that are highly valued in STEM fields, such as problem-solving, critical thinking, data analysis, and communication.</a:t>
            </a:r>
            <a:endParaRPr lang="en-US" sz="1750" dirty="0"/>
          </a:p>
        </p:txBody>
      </p:sp>
      <p:sp>
        <p:nvSpPr>
          <p:cNvPr id="6" name="Text 4"/>
          <p:cNvSpPr/>
          <p:nvPr/>
        </p:nvSpPr>
        <p:spPr>
          <a:xfrm>
            <a:off x="968693" y="4396859"/>
            <a:ext cx="12692896" cy="717709"/>
          </a:xfrm>
          <a:prstGeom prst="rect">
            <a:avLst/>
          </a:prstGeom>
          <a:noFill/>
          <a:ln/>
        </p:spPr>
        <p:txBody>
          <a:bodyPr wrap="square" lIns="0" tIns="0" rIns="0" bIns="0" rtlCol="0" anchor="t"/>
          <a:lstStyle/>
          <a:p>
            <a:pPr marL="342900" indent="-342900" algn="l">
              <a:lnSpc>
                <a:spcPts val="2800"/>
              </a:lnSpc>
              <a:buSzPct val="100000"/>
              <a:buChar char="•"/>
            </a:pPr>
            <a:r>
              <a:rPr lang="en-US" sz="1750" b="1" dirty="0">
                <a:solidFill>
                  <a:srgbClr val="3A3630"/>
                </a:solidFill>
                <a:latin typeface="Source Sans Pro" pitchFamily="34" charset="0"/>
                <a:ea typeface="Source Sans Pro" pitchFamily="34" charset="-122"/>
                <a:cs typeface="Source Sans Pro" pitchFamily="34" charset="-120"/>
              </a:rPr>
              <a:t>Pursuing Relevant Education:</a:t>
            </a:r>
            <a:r>
              <a:rPr lang="en-US" sz="1750" dirty="0">
                <a:solidFill>
                  <a:srgbClr val="3A3630"/>
                </a:solidFill>
                <a:latin typeface="Source Sans Pro" pitchFamily="34" charset="0"/>
                <a:ea typeface="Source Sans Pro" pitchFamily="34" charset="-122"/>
                <a:cs typeface="Source Sans Pro" pitchFamily="34" charset="-120"/>
              </a:rPr>
              <a:t> Obtain a STEM degree from a reputable institution, specializing in a field that aligns with your career goals.</a:t>
            </a:r>
            <a:endParaRPr lang="en-US" sz="1750" dirty="0"/>
          </a:p>
        </p:txBody>
      </p:sp>
      <p:sp>
        <p:nvSpPr>
          <p:cNvPr id="7" name="Text 5"/>
          <p:cNvSpPr/>
          <p:nvPr/>
        </p:nvSpPr>
        <p:spPr>
          <a:xfrm>
            <a:off x="968693" y="5193030"/>
            <a:ext cx="12692896" cy="717709"/>
          </a:xfrm>
          <a:prstGeom prst="rect">
            <a:avLst/>
          </a:prstGeom>
          <a:noFill/>
          <a:ln/>
        </p:spPr>
        <p:txBody>
          <a:bodyPr wrap="square" lIns="0" tIns="0" rIns="0" bIns="0" rtlCol="0" anchor="t"/>
          <a:lstStyle/>
          <a:p>
            <a:pPr marL="342900" indent="-342900" algn="l">
              <a:lnSpc>
                <a:spcPts val="2800"/>
              </a:lnSpc>
              <a:buSzPct val="100000"/>
              <a:buChar char="•"/>
            </a:pPr>
            <a:r>
              <a:rPr lang="en-US" sz="1750" b="1" dirty="0">
                <a:solidFill>
                  <a:srgbClr val="3A3630"/>
                </a:solidFill>
                <a:latin typeface="Source Sans Pro" pitchFamily="34" charset="0"/>
                <a:ea typeface="Source Sans Pro" pitchFamily="34" charset="-122"/>
                <a:cs typeface="Source Sans Pro" pitchFamily="34" charset="-120"/>
              </a:rPr>
              <a:t>Gain Practical Experience:</a:t>
            </a:r>
            <a:r>
              <a:rPr lang="en-US" sz="1750" dirty="0">
                <a:solidFill>
                  <a:srgbClr val="3A3630"/>
                </a:solidFill>
                <a:latin typeface="Source Sans Pro" pitchFamily="34" charset="0"/>
                <a:ea typeface="Source Sans Pro" pitchFamily="34" charset="-122"/>
                <a:cs typeface="Source Sans Pro" pitchFamily="34" charset="-120"/>
              </a:rPr>
              <a:t> Seek internships, research opportunities, or volunteer work to gain hands-on experience in your chosen field.</a:t>
            </a:r>
            <a:endParaRPr lang="en-US" sz="1750" dirty="0"/>
          </a:p>
        </p:txBody>
      </p:sp>
      <p:sp>
        <p:nvSpPr>
          <p:cNvPr id="8" name="Text 6"/>
          <p:cNvSpPr/>
          <p:nvPr/>
        </p:nvSpPr>
        <p:spPr>
          <a:xfrm>
            <a:off x="968693" y="5989201"/>
            <a:ext cx="12692896" cy="717709"/>
          </a:xfrm>
          <a:prstGeom prst="rect">
            <a:avLst/>
          </a:prstGeom>
          <a:noFill/>
          <a:ln/>
        </p:spPr>
        <p:txBody>
          <a:bodyPr wrap="square" lIns="0" tIns="0" rIns="0" bIns="0" rtlCol="0" anchor="t"/>
          <a:lstStyle/>
          <a:p>
            <a:pPr marL="342900" indent="-342900" algn="l">
              <a:lnSpc>
                <a:spcPts val="2800"/>
              </a:lnSpc>
              <a:buSzPct val="100000"/>
              <a:buChar char="•"/>
            </a:pPr>
            <a:r>
              <a:rPr lang="en-US" sz="1750" b="1" dirty="0">
                <a:solidFill>
                  <a:srgbClr val="3A3630"/>
                </a:solidFill>
                <a:latin typeface="Source Sans Pro" pitchFamily="34" charset="0"/>
                <a:ea typeface="Source Sans Pro" pitchFamily="34" charset="-122"/>
                <a:cs typeface="Source Sans Pro" pitchFamily="34" charset="-120"/>
              </a:rPr>
              <a:t>Networking and Mentorship:</a:t>
            </a:r>
            <a:r>
              <a:rPr lang="en-US" sz="1750" dirty="0">
                <a:solidFill>
                  <a:srgbClr val="3A3630"/>
                </a:solidFill>
                <a:latin typeface="Source Sans Pro" pitchFamily="34" charset="0"/>
                <a:ea typeface="Source Sans Pro" pitchFamily="34" charset="-122"/>
                <a:cs typeface="Source Sans Pro" pitchFamily="34" charset="-120"/>
              </a:rPr>
              <a:t> Build connections with professionals in your chosen field, seeking mentorship and guidance from experienced individuals.</a:t>
            </a:r>
            <a:endParaRPr lang="en-US" sz="1750" dirty="0"/>
          </a:p>
        </p:txBody>
      </p:sp>
      <p:sp>
        <p:nvSpPr>
          <p:cNvPr id="9" name="Text 7"/>
          <p:cNvSpPr/>
          <p:nvPr/>
        </p:nvSpPr>
        <p:spPr>
          <a:xfrm>
            <a:off x="968693" y="6785372"/>
            <a:ext cx="12692896" cy="717709"/>
          </a:xfrm>
          <a:prstGeom prst="rect">
            <a:avLst/>
          </a:prstGeom>
          <a:noFill/>
          <a:ln/>
        </p:spPr>
        <p:txBody>
          <a:bodyPr wrap="square" lIns="0" tIns="0" rIns="0" bIns="0" rtlCol="0" anchor="t"/>
          <a:lstStyle/>
          <a:p>
            <a:pPr marL="342900" indent="-342900" algn="l">
              <a:lnSpc>
                <a:spcPts val="2800"/>
              </a:lnSpc>
              <a:buSzPct val="100000"/>
              <a:buChar char="•"/>
            </a:pPr>
            <a:r>
              <a:rPr lang="en-US" sz="1750" b="1" dirty="0">
                <a:solidFill>
                  <a:srgbClr val="3A3630"/>
                </a:solidFill>
                <a:latin typeface="Source Sans Pro" pitchFamily="34" charset="0"/>
                <a:ea typeface="Source Sans Pro" pitchFamily="34" charset="-122"/>
                <a:cs typeface="Source Sans Pro" pitchFamily="34" charset="-120"/>
              </a:rPr>
              <a:t>Stay Updated:</a:t>
            </a:r>
            <a:r>
              <a:rPr lang="en-US" sz="1750" dirty="0">
                <a:solidFill>
                  <a:srgbClr val="3A3630"/>
                </a:solidFill>
                <a:latin typeface="Source Sans Pro" pitchFamily="34" charset="0"/>
                <a:ea typeface="Source Sans Pro" pitchFamily="34" charset="-122"/>
                <a:cs typeface="Source Sans Pro" pitchFamily="34" charset="-120"/>
              </a:rPr>
              <a:t> Technology and advancements in STEM fields evolve rapidly. Continuously update your skills and knowledge by attending workshops, conferences, and online courses.</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1305</Words>
  <Application>Microsoft Office PowerPoint</Application>
  <PresentationFormat>Custom</PresentationFormat>
  <Paragraphs>71</Paragraphs>
  <Slides>9</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Lora</vt:lpstr>
      <vt:lpstr>Calibri</vt:lpstr>
      <vt:lpstr>Source Sans Pro</vt:lpstr>
      <vt:lpstr>Source Sans Pro Bold</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cp:lastModifiedBy>
  <cp:revision>3</cp:revision>
  <dcterms:created xsi:type="dcterms:W3CDTF">2024-12-11T09:03:33Z</dcterms:created>
  <dcterms:modified xsi:type="dcterms:W3CDTF">2024-12-11T09:16:03Z</dcterms:modified>
</cp:coreProperties>
</file>